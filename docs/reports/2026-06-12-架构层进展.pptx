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大家好。今天汇报的是 Genius X 的架构层进展。先说定位:我们目前处于基础架构的抽象、规划与实现阶段——还没有落实正式的前端设计,也还没有进行真实 AI 接口的调用测试,全链路跑在确定性模拟引擎上。今天讲两个议题:一是这一周拉齐之后的简版产品需求;二是支撑它的抽象层技术方案、serving 规划和服务质量目标。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一句话核心信息:我们在为孩子建一个更安全、友善、一直记得他、和他一起长大的 AI 伙伴。注意我们刻意不说「永不出错」——大模型存在幻觉,谁承诺谁心虚。我们承诺的是三件可以在工程上兑现的事:出错孩子不可见、降级运营可计数、多层安全门让错误不伤害孩子。而「记得他」「一起长大」不是营销话术——是数据库里一行行可审计的记录和快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第一个议题:经过这一周不断开会、拉齐理念和目标之后,我们形成了简版 PRD,核心是四个角色——教师、助教、孩童、家长——各自的功能需求,以及架构对它们的支撑程度。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四个角色。教师塑造场景——这一条已经逐字建成:老师是场景设计师,课前从场景库备课,课上选择走向,新场景纯配置就能开课。助教引导孩子合理使用 AI——用选择菜单引导每一步,这正是系统唯一的儿童输入形态。孩童是调用 AI 的主体,生成、修改、多轮打磨、保存都已建成。家长收看与参与——作品演变全历程已经交付,送小红花和简版报告是小工程量的延伸。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回应一个重要的设计修正。我们曾把「选项必须课前声明」当作安全要求,但重新审视后发现,安全的本质不变量只有三条:孩子的自由文本不直接进提示词、一切孩子可见的内容都过输出审查、品牌注入不可绕过。预声明只是真实审核还没接入时期的从严姿态。所以演进分三档:现状是预声明;立即可以做多套选项集和轮换抽样,让同一节课不同孩子看到不同选项;目标态是模型动态生成菜单——多样性来自模型,安全来自管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周的需求拉齐还了断了六个产品决策。最重要的三个:家长能看到的是经过策展和安全审查的摘要,永远看不到逐字聊天记录——这保护孩子对朋友的信任;分享给小朋友等于课内投屏加实体载体,不做线上儿童社交;自定义工具等于工具箱个性化,能力沙箱的封闭枚举不开放。底部这行是给工程团队的定心丸:这一周的需求抽象和已建成的架构同源同构,零返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第二个议题:技术方案。先看一张总览图,然后挑最重要的几个模块展开,最后是服务质量目标总表。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架构五层。客户端是一个应用多扇门:课堂、家长、课后乐园共享一个内核。公网只开三族白名单路由,其余全部隔离在运营网内。服务端是课堂运行时、乐园会话和 Agent 记忆系统。最关键的是 AI 网关层:全系统所有 AI 调用的唯一入口,七步管线,而供应商是其中一个可换的接缝——现在跑模拟引擎,真实 API 到位后这里是唯一换装点,业务代码一行不改。底层是不可变账本式的数据层。横切三件套:降级原则、16 份冻结契约、453 项测试加对抗评审。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记忆系统是「一起长大」的工程形态,分三层时间尺度。场景内,八轮对话缓冲让这一轮记得上一轮;场景结束时,整段对话固化成一条五百字以内、格式校验过的共同经历;跨课程,每次对话按版本化模板注入人设、家长留言、语义记忆和共同经历——模板每个字都被测试钉死。课程结束伙伴还会写一篇日记,目前是确定性拼装,不调模型——这是模拟引擎时代的诚实形态。单场景多轮里「配裤子还是换上衣」的问题:对话连贯靠缓冲,图像连贯靠基准图谱系,沿用还是重来是配置选择,不是架构改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诚实地讲记忆系统的边界:它现在是启发式检索,不是语义检索,有效期大约十五到二十节课。演进路线的原则是:先建评估、再换排序、最后才碰生成。第一步是评估基建——AI 当裁判的离线评分体系,没有它任何改动都是盲改。然后是学习型重要度、向量检索、分层摘要,而让模型重写记忆库的生成式方案在儿童产品上永远最后考虑——伙伴说出一条孩子从没说过的「记忆」,家长信任一次崩塌。AB 实验的插点就是现成的抽象层接缝:先影子评估,按班级分配,绝不在已建立的关系中途换方案,编造记忆率是熔断指标。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堵承重墙。能力沙箱:伙伴能做的每件事来自封闭清单,工具永远叫不出任何网址或供应商,孩子的输入只能是声明过的选项;画到上限时伙伴温暖收尾,而不是按钮变灰;学会的本领数据库层面就没有撤销列——朋友永远不会忘记本领。IP 形象实体:品牌基底锁死、表层孩子改写、每次改写一个不可变快照,这就是成长时间线,出生证是第一版快照。底部这一条值得注意:「课程是诱饵」在我们这里是机制——上完课,乐园里解锁新本领。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已经交付的体验闭环。家长侧三层递进:下课收到分享链接,家里打开家长之家翻成长时间线,写一句悄悄话由伙伴自然转述——而孩子的原话、运营数据永远不会出现在家长侧,这是用序列化测试钉死的隐私纪律。乐园侧:家长点「把屏幕交给孩子」,朋友的家亮起,它用上次的回忆打招呼;孩子看作品上墙、读朋友的日记;时间快到朋友犯困,孩子帮它盖被子说晚安——防沉迷变成了世界观。每日额度服务端强制,课后的 AI 对话被五道闸挡住,在真实审核到位前坚决不开。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课后乐园怎么形成粘性?先立场后机制。孩子端零推送零红点,所以设计对象不是打开率,而是 APP 关着的时候孩子心里惦记什么。粘性只有三个合法来源:关系、创作、叙事。我们的伦理立场要讲清楚:明确放弃对儿童使用变比率强化、限时压力、人为稀缺——伙伴不是老虎机,这是我们的定义性反面。第一版四个机制全部骑在已有架构上:它认得我、它记得昨晚、我的画在等我、我每节课都带新本领回家。下面一排是我们明确拒绝的经典游戏化手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服务质量目标。对话八秒、合成两秒、图像十五秒端到端——重点不是数字本身,而是超时行为:预算耗尽的瞬间孩子拿到的是预置的温暖兜底,所以体验下界是设计保证,不是期望。并发方面,第一年周末峰值三百多人,等于十到十五间教室,按房间码黏性路由分片即可,架构不需要重构,压测工具会在第一个真实高峰之前交付。最后是可用性分级:课堂状态机和安全门失败不可接受;记忆、追踪这类影子系统挂了课堂无感,但每次降级必须留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质量怎么保证。第一,契约先行:十六份冻结契约,每个共享数据都写明所有者、来源、失败模式和漂移检查——我们的团队是创始人加 AI 智能体,文档就是团队的共享记忆。第二,多智能体对抗评审:每个功能合并前由独立的 AI 评审员互相攻击,累计抓出四个致命、二十八个以上重要问题,全部修复才放行。举个本周的例子:评审用探针证明一个课程配置失误就能让模型冒写孩子的日记,合并前就封死了。第三,四百五十三项测试全绿,真实数据库双跑验证,儿童界面禁词扫描进了 CI。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的瓶颈坦诚讲三个:品牌设计文档和四次体验课大纲,本周六之后到位,它们是正式前端设计和课程内容填充的前提;服务号和腾讯云账号资源,拿到才能开始真实场景测试;微信小程序资质申请周期数周,建议尽早启动。等待期的策略很明确:把所有不依赖外部的地基打完——供应商接缝、记忆系统、形象实体、安全沙箱、家长面、乐园骨架全部已经就位。外部资源到位那天,接入是换装,不是开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用一句话收尾。今天,孩子已经可以上一节完整的课,得到一个记得他的朋友;课后由家长开门去朋友家——看作品上墙、读朋友写的日记、被它用上次的回忆打招呼、时间到了帮它盖被子说晚安。这一切跑在模拟引擎上。真实 AI 接口接通的那天,这个家会活过来——而孩子,早已经住在里面了。谢谢大家。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7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架构层进展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FD166"/>
                </a:solidFill>
              </a:defRPr>
            </a:pPr>
            <a:r>
              <a:t>Genius X · 一门 AI 语言,一个 AI 伙伴</a:t>
            </a:r>
          </a:p>
          <a:p>
            <a:pPr>
              <a:defRPr sz="1800">
                <a:solidFill>
                  <a:srgbClr val="FFD166"/>
                </a:solidFill>
              </a:defRPr>
            </a:pPr>
            <a:r>
              <a:t>基础架构的抽象、规划与实现 · 2026 年 6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2179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B2350"/>
                </a:solidFill>
              </a:rPr>
              <a:t>核心信息:我们在为孩子建什么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5B3FFF"/>
                </a:solidFill>
              </a:rPr>
              <a:t>• 一个更安全、友善、一直记得他、和他一起长大的 AI 伙伴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B2350"/>
                </a:solidFill>
              </a:rPr>
              <a:t>• 不承诺「永不出错」——模型存在幻觉;我们承诺的是:</a:t>
            </a:r>
          </a:p>
          <a:p>
            <a:pPr lvl="1">
              <a:spcAft>
                <a:spcPts val="300"/>
              </a:spcAft>
            </a:pPr>
            <a:r>
              <a:rPr sz="1450" b="0">
                <a:solidFill>
                  <a:srgbClr val="2B2350"/>
                </a:solidFill>
              </a:rPr>
              <a:t>– 任何出错,孩子不可见(温暖兜底,永无报错画面)</a:t>
            </a:r>
          </a:p>
          <a:p>
            <a:pPr lvl="1">
              <a:spcAft>
                <a:spcPts val="300"/>
              </a:spcAft>
            </a:pPr>
            <a:r>
              <a:rPr sz="1450" b="0">
                <a:solidFill>
                  <a:srgbClr val="2B2350"/>
                </a:solidFill>
              </a:rPr>
              <a:t>– 任何降级,运营可计数(封闭监控词表,CI 强制)</a:t>
            </a:r>
          </a:p>
          <a:p>
            <a:pPr lvl="1">
              <a:spcAft>
                <a:spcPts val="300"/>
              </a:spcAft>
            </a:pPr>
            <a:r>
              <a:rPr sz="1450" b="0">
                <a:solidFill>
                  <a:srgbClr val="2B2350"/>
                </a:solidFill>
              </a:rPr>
              <a:t>– 多层安全门,让错误不伤害孩子(审查管线 + 能力沙箱)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5B3FFF"/>
                </a:solidFill>
              </a:rPr>
              <a:t>• 「记得」与「成长」是可审计的数据,不是玄学:每条记忆有来源、每次成长有快照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B2350"/>
                </a:solidFill>
              </a:rPr>
              <a:t>• 商业承重:课程是诱饵,伙伴才是本体(获客=线下课,留存=伙伴生态)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7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D166"/>
                </a:solidFill>
              </a:rPr>
              <a:t>议题一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简版 PRD:四个角色的功能需求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2179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B2350"/>
                </a:solidFill>
              </a:rPr>
              <a:t>四角色总览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5B3FFF"/>
                </a:solidFill>
              </a:rPr>
              <a:t>• 教师 = 塑造场景:提供课程情境与要求(如「编织工坊,为小伙伴设计新衣服」)</a:t>
            </a:r>
          </a:p>
          <a:p>
            <a:pPr lvl="1">
              <a:spcAft>
                <a:spcPts val="300"/>
              </a:spcAft>
            </a:pPr>
            <a:r>
              <a:rPr sz="1450" b="0">
                <a:solidFill>
                  <a:srgbClr val="2B2350"/>
                </a:solidFill>
              </a:rPr>
              <a:t>– 已建成并冻结:场景库 + 课上选择;新场景 = 纯配置开课,无需工程周期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5B3FFF"/>
                </a:solidFill>
              </a:rPr>
              <a:t>• 助教 = 引导孩童合理使用 AI:选择菜单引导每一步(上衣类型→生成,颜色→修改)</a:t>
            </a:r>
          </a:p>
          <a:p>
            <a:pPr lvl="1">
              <a:spcAft>
                <a:spcPts val="300"/>
              </a:spcAft>
            </a:pPr>
            <a:r>
              <a:rPr sz="1450" b="0">
                <a:solidFill>
                  <a:srgbClr val="2B2350"/>
                </a:solidFill>
              </a:rPr>
              <a:t>– 选择式交互是系统的儿童输入形态,安全姿态建于其上;选项来源三档演进(下页)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5B3FFF"/>
                </a:solidFill>
              </a:rPr>
              <a:t>• 孩童 = 调用 AI 的主体:生成/修改/多轮打磨/保存/分享 + 工具箱个性化 + 录入记忆</a:t>
            </a:r>
          </a:p>
          <a:p>
            <a:pPr lvl="1">
              <a:spcAft>
                <a:spcPts val="300"/>
              </a:spcAft>
            </a:pPr>
            <a:r>
              <a:rPr sz="1450" b="0">
                <a:solidFill>
                  <a:srgbClr val="2B2350"/>
                </a:solidFill>
              </a:rPr>
              <a:t>– 生成/修改/多轮/保存已建成;「我喜欢红色」说出即记住(提取式管线)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5B3FFF"/>
                </a:solidFill>
              </a:rPr>
              <a:t>• 家长 = 收看与共同参与:简版报告/作品全历程/送小红花/课后共同加工</a:t>
            </a:r>
          </a:p>
          <a:p>
            <a:pPr lvl="1">
              <a:spcAft>
                <a:spcPts val="300"/>
              </a:spcAft>
            </a:pPr>
            <a:r>
              <a:rPr sz="1450" b="0">
                <a:solidFill>
                  <a:srgbClr val="2B2350"/>
                </a:solidFill>
              </a:rPr>
              <a:t>– 作品全历程已交付(打磨轨迹+成长时间线);反应系统/报告为有界延伸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2179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B2350"/>
                </a:solidFill>
              </a:rPr>
              <a:t>选项菜单的三档演进(安全与创造力的平衡)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5B3FFF"/>
                </a:solidFill>
              </a:rPr>
              <a:t>• 安全的本质不变量只有三条:</a:t>
            </a:r>
          </a:p>
          <a:p>
            <a:pPr lvl="1">
              <a:spcAft>
                <a:spcPts val="300"/>
              </a:spcAft>
            </a:pPr>
            <a:r>
              <a:rPr sz="1450" b="0">
                <a:solidFill>
                  <a:srgbClr val="2B2350"/>
                </a:solidFill>
              </a:rPr>
              <a:t>– 孩子的自由文本不直接进提示词 / 一切孩子可见内容过输出审查 / 品牌注入不可绕过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B2350"/>
                </a:solidFill>
              </a:rPr>
              <a:t>• T1(现状):课前声明选项,校验器把关——审核缺位期的从严姿态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5B3FFF"/>
                </a:solidFill>
              </a:rPr>
              <a:t>• T1.5(立即可做):多套选项集课上切换 + 选项库轮换抽样——同课不同孩子见不同选项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5B3FFF"/>
                </a:solidFill>
              </a:rPr>
              <a:t>• T2(目标态):模型动态生成菜单——按场景与孩子上一轮现场生成选项</a:t>
            </a:r>
          </a:p>
          <a:p>
            <a:pPr lvl="1">
              <a:spcAft>
                <a:spcPts val="300"/>
              </a:spcAft>
            </a:pPr>
            <a:r>
              <a:rPr sz="1450" b="0">
                <a:solidFill>
                  <a:srgbClr val="2B2350"/>
                </a:solidFill>
              </a:rPr>
              <a:t>– 经 schema 校验 + 输出审查 + 禁词扫描后渲染:多样性来自模型,安全来自管线</a:t>
            </a:r>
          </a:p>
          <a:p>
            <a:pPr lvl="1">
              <a:spcAft>
                <a:spcPts val="300"/>
              </a:spcAft>
            </a:pPr>
            <a:r>
              <a:rPr sz="1450" b="0">
                <a:solidFill>
                  <a:srgbClr val="2B2350"/>
                </a:solidFill>
              </a:rPr>
              <a:t>– 前提 = 真实内容审核到位;与记忆抽取同构,是 AI-first 原则的正统应用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5B3FFF"/>
                </a:solidFill>
              </a:rPr>
              <a:t>• 结论:创造力训练与作品多样性不被牺牲——它们等的是审核接入,不是架构重做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2179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B2350"/>
                </a:solidFill>
              </a:rPr>
              <a:t>本周已裁决的产品决策(D1-D6)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2B2350"/>
                </a:solidFill>
              </a:rPr>
              <a:t>• D1 家长可见性:策展后的情节摘要可入报告与时间线;逐字记录永久不可见(安全升级除外)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B2350"/>
                </a:solidFill>
              </a:rPr>
              <a:t>• D2 「分享给小朋友」= 课内投屏 + 实体载体;线上孩子间互看维持禁区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B2350"/>
                </a:solidFill>
              </a:rPr>
              <a:t>• D3 「自定义工具」= 工具箱个性化(解锁本领/改写伙伴/组合选项/起昵称);机制枚举不开放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B2350"/>
                </a:solidFill>
              </a:rPr>
              <a:t>• D4 选项菜单三档演进(上页)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B2350"/>
                </a:solidFill>
              </a:rPr>
              <a:t>• D5 小红花 → 通用反应系统:封闭反应集合 = 配置数据;一对一情感事件,零计数零排行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B2350"/>
                </a:solidFill>
              </a:rPr>
              <a:t>• D6 乐园拉力框架:五条相容性测试 + 明确放弃变比率强化/FOMO/人为稀缺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5B3FFF"/>
                </a:solidFill>
              </a:rPr>
              <a:t>• 结论:本周抽象与既有架构同源同构——零返工,全部为已建成或有界延伸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7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D166"/>
                </a:solidFill>
              </a:rPr>
              <a:t>议题二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抽象层技术方案 · Serving 规划 · SLO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2179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B2350"/>
                </a:solidFill>
              </a:rPr>
              <a:t>架构总览:五层 + 三件横切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2B2350"/>
                </a:solidFill>
              </a:rPr>
              <a:t>• 客户端:一个应用,多扇门(课堂/助教/教师投影 ┃ 家长H5 ┃ 课后乐园)+ 主题令牌系统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B2350"/>
                </a:solidFill>
              </a:rPr>
              <a:t>• 公网白名单:仅三族路由(/share /parent /playground),其余全部运营网隔离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B2350"/>
                </a:solidFill>
              </a:rPr>
              <a:t>• 服务端:课堂运行时 ┃ 乐园会话 ┃ Agent 记忆 ┃ 身份/工作区/IP形象实体/家长面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5B3FFF"/>
                </a:solidFill>
              </a:rPr>
              <a:t>• AI 网关:全系统唯一 AI 入口——审查→预算→供应商接缝→审查→schema→兜底→审计</a:t>
            </a:r>
          </a:p>
          <a:p>
            <a:pPr lvl="1">
              <a:spcAft>
                <a:spcPts val="300"/>
              </a:spcAft>
            </a:pPr>
            <a:r>
              <a:rPr sz="1450" b="1">
                <a:solidFill>
                  <a:srgbClr val="5B3FFF"/>
                </a:solidFill>
              </a:rPr>
              <a:t>– 供应商接缝:现 = 确定性模拟引擎;真实 API = 唯一换装点(图像已按异步提交→轮询建模)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B2350"/>
                </a:solidFill>
              </a:rPr>
              <a:t>• 数据层:不可变账本(作品/形象快照/记忆)+ 四条纪律(租户外键/幂等/序号/留存契约)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5B3FFF"/>
                </a:solidFill>
              </a:rPr>
              <a:t>• 横切三件:降级原则(孩子无感+运营可计数)┃ 16 份冻结契约 ┃ 453 测试+对抗评审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2179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B2350"/>
                </a:solidFill>
              </a:rPr>
              <a:t>记忆系统:三层时间尺度(共同成长的工程形态)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2B2350"/>
                </a:solidFill>
              </a:rPr>
              <a:t>• 场景内(热):每孩子每场景 8 轮对话缓冲——这一轮记得上一轮</a:t>
            </a:r>
          </a:p>
          <a:p>
            <a:pPr lvl="1">
              <a:spcAft>
                <a:spcPts val="300"/>
              </a:spcAft>
            </a:pPr>
            <a:r>
              <a:rPr sz="1450" b="0">
                <a:solidFill>
                  <a:srgbClr val="2B2350"/>
                </a:solidFill>
              </a:rPr>
              <a:t>– 被安全过滤的轮次永不入缓冲;原始童声永不出服务器(测试钉死)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B2350"/>
                </a:solidFill>
              </a:rPr>
              <a:t>• 跨场景(温):场景结束固化为一条 ≤500 字、格式校验的「共同经历」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B2350"/>
                </a:solidFill>
              </a:rPr>
              <a:t>• 跨课程(冷):每次对话按版本化模板注入——人设→家长留言→语义记忆前12→经历前3</a:t>
            </a:r>
          </a:p>
          <a:p>
            <a:pPr lvl="1">
              <a:spcAft>
                <a:spcPts val="300"/>
              </a:spcAft>
            </a:pPr>
            <a:r>
              <a:rPr sz="1450" b="0">
                <a:solidFill>
                  <a:srgbClr val="2B2350"/>
                </a:solidFill>
              </a:rPr>
              <a:t>– 模板每个字被测试钉死,改动必须先升版本号(上下文 = 模型输入契约)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B2350"/>
                </a:solidFill>
              </a:rPr>
              <a:t>• 课末伙伴日记:确定性拼装当天真实经历(不调模型——模拟引擎期的诚实形态)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5B3FFF"/>
                </a:solidFill>
              </a:rPr>
              <a:t>• 图像多轮:对话连贯由轮次缓冲承载,图像连贯由「基准图谱系」承载</a:t>
            </a:r>
          </a:p>
          <a:p>
            <a:pPr lvl="1">
              <a:spcAft>
                <a:spcPts val="300"/>
              </a:spcAft>
            </a:pPr>
            <a:r>
              <a:rPr sz="1450" b="1">
                <a:solidFill>
                  <a:srgbClr val="5B3FFF"/>
                </a:solidFill>
              </a:rPr>
              <a:t>– 「沿用还是重来」两条机制并存(修改 vs 生成)——是配置选择,不是架构改造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5B3FFF"/>
                </a:solidFill>
              </a:rPr>
              <a:t>• 孩子的体感:周一上课它记得上周;乐园来访它说「上次我们画了恐龙——我还想着呢!」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2179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B2350"/>
                </a:solidFill>
              </a:rPr>
              <a:t>记忆系统:诚实的边界与演进路线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5B3FFF"/>
                </a:solidFill>
              </a:rPr>
              <a:t>• 当前特点:可审计(每条记忆有来源)/ 确定性(可复盘)/ 便宜 / 版本化可回滚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5B3FFF"/>
                </a:solidFill>
              </a:rPr>
              <a:t>• 诚实边界:启发式检索而非语义检索;有效期约 15-20 节课(记忆量超过注入容量后)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B2350"/>
                </a:solidFill>
              </a:rPr>
              <a:t>• 演进路线(按「先建评估、再换排序、最后才碰生成」排序):</a:t>
            </a:r>
          </a:p>
          <a:p>
            <a:pPr lvl="1">
              <a:spcAft>
                <a:spcPts val="300"/>
              </a:spcAft>
            </a:pPr>
            <a:r>
              <a:rPr sz="1450" b="1">
                <a:solidFill>
                  <a:srgbClr val="5B3FFF"/>
                </a:solidFill>
              </a:rPr>
              <a:t>– ①评估基建先行:AI-as-a-Judge 离线评分——没有评估能力前,任何检索改动都是盲改</a:t>
            </a:r>
          </a:p>
          <a:p>
            <a:pPr lvl="1">
              <a:spcAft>
                <a:spcPts val="300"/>
              </a:spcAft>
            </a:pPr>
            <a:r>
              <a:rPr sz="1450" b="0">
                <a:solidFill>
                  <a:srgbClr val="2B2350"/>
                </a:solidFill>
              </a:rPr>
              <a:t>– ②学习型重要度(访问加权+衰减,近零成本)→ ③向量检索(语义召回,零幻觉)</a:t>
            </a:r>
          </a:p>
          <a:p>
            <a:pPr lvl="1">
              <a:spcAft>
                <a:spcPts val="300"/>
              </a:spcAft>
            </a:pPr>
            <a:r>
              <a:rPr sz="1450" b="0">
                <a:solidFill>
                  <a:srgbClr val="2B2350"/>
                </a:solidFill>
              </a:rPr>
              <a:t>– ④分层摘要(经历毕业为成长故事)…生成式整合在儿童产品上永远最后(幻觉记忆=信任灾难)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B2350"/>
                </a:solidFill>
              </a:rPr>
              <a:t>• AB 实验(在 ContextBuilder 抽象层上):先影子评估再实弹;按班级分配;</a:t>
            </a:r>
          </a:p>
          <a:p>
            <a:pPr lvl="1">
              <a:spcAft>
                <a:spcPts val="300"/>
              </a:spcAft>
            </a:pPr>
            <a:r>
              <a:rPr sz="1450" b="1">
                <a:solidFill>
                  <a:srgbClr val="5B3FFF"/>
                </a:solidFill>
              </a:rPr>
              <a:t>– 绝不在已建立的关系中途换变体(朋友突然变笨是真实伤害);编造记忆率 = 熔断指标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2179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B2350"/>
                </a:solidFill>
              </a:rPr>
              <a:t>能力沙箱 + IP 形象实体(安全与成长的承重墙)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5B3FFF"/>
                </a:solidFill>
              </a:rPr>
              <a:t>• 能力沙箱四件套(已建成):封闭工具机制枚举 + 轮次/并发闸 + 双向安全门 + 全链路计数</a:t>
            </a:r>
          </a:p>
          <a:p>
            <a:pPr lvl="1">
              <a:spcAft>
                <a:spcPts val="300"/>
              </a:spcAft>
            </a:pPr>
            <a:r>
              <a:rPr sz="1450" b="0">
                <a:solidFill>
                  <a:srgbClr val="2B2350"/>
                </a:solidFill>
              </a:rPr>
              <a:t>– 工具永远叫不出 URL/供应商;输入只能是声明的选项 + 作品引用</a:t>
            </a:r>
          </a:p>
          <a:p>
            <a:pPr lvl="1">
              <a:spcAft>
                <a:spcPts val="300"/>
              </a:spcAft>
            </a:pPr>
            <a:r>
              <a:rPr sz="1450" b="0">
                <a:solidFill>
                  <a:srgbClr val="2B2350"/>
                </a:solidFill>
              </a:rPr>
              <a:t>– 轮次到顶 = 伙伴温暖收尾(「我们把最喜欢的挂起来吧」),永远不是灰按钮</a:t>
            </a:r>
          </a:p>
          <a:p>
            <a:pPr lvl="1">
              <a:spcAft>
                <a:spcPts val="300"/>
              </a:spcAft>
            </a:pPr>
            <a:r>
              <a:rPr sz="1450" b="0">
                <a:solidFill>
                  <a:srgbClr val="2B2350"/>
                </a:solidFill>
              </a:rPr>
              <a:t>– 本领「挣到永不收回」:数据库层无撤销列——朋友不会「忘记本领」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5B3FFF"/>
                </a:solidFill>
              </a:rPr>
              <a:t>• IP 形象 = 版本化数据实体:锁死品牌基底 + 孩子可改写表层 + 临时皮肤</a:t>
            </a:r>
          </a:p>
          <a:p>
            <a:pPr lvl="1">
              <a:spcAft>
                <a:spcPts val="300"/>
              </a:spcAft>
            </a:pPr>
            <a:r>
              <a:rPr sz="1450" b="0">
                <a:solidFill>
                  <a:srgbClr val="2B2350"/>
                </a:solidFill>
              </a:rPr>
              <a:t>– 每次被接受的改写 = 一个不可变快照 = 成长时间线;出生证 = v1 快照</a:t>
            </a:r>
          </a:p>
          <a:p>
            <a:pPr lvl="1">
              <a:spcAft>
                <a:spcPts val="300"/>
              </a:spcAft>
            </a:pPr>
            <a:r>
              <a:rPr sz="1450" b="0">
                <a:solidFill>
                  <a:srgbClr val="2B2350"/>
                </a:solidFill>
              </a:rPr>
              <a:t>– 作品带「血缘」链接到它描绘的形象版本——家长回看像翻成长相册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5B3FFF"/>
                </a:solidFill>
              </a:rPr>
              <a:t>• 「课程是诱饵」的机制化:上完课 = 乐园解锁新本领(授予表)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2179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B2350"/>
                </a:solidFill>
              </a:rPr>
              <a:t>家长面与课后乐园(已交付的体验闭环)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2B2350"/>
                </a:solidFill>
              </a:rPr>
              <a:t>• 家长三层递进:课后分享链接 → 认证家长之家(成长时间线)→ 共同参与(留言由伙伴转述)</a:t>
            </a:r>
          </a:p>
          <a:p>
            <a:pPr lvl="1">
              <a:spcAft>
                <a:spcPts val="300"/>
              </a:spcAft>
            </a:pPr>
            <a:r>
              <a:rPr sz="1450" b="1">
                <a:solidFill>
                  <a:srgbClr val="5B3FFF"/>
                </a:solidFill>
              </a:rPr>
              <a:t>– 隐私纪律:孩子原话/运营数据/内部 ID 永不出现在家长侧(序列化测试钉死)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B2350"/>
                </a:solidFill>
              </a:rPr>
              <a:t>• 乐园:家长点「把屏幕交给孩子」→ 朋友的家亮起</a:t>
            </a:r>
          </a:p>
          <a:p>
            <a:pPr lvl="1">
              <a:spcAft>
                <a:spcPts val="300"/>
              </a:spcAft>
            </a:pPr>
            <a:r>
              <a:rPr sz="1450" b="0">
                <a:solidFill>
                  <a:srgbClr val="2B2350"/>
                </a:solidFill>
              </a:rPr>
              <a:t>– 朋友用上次的回忆打招呼 → 作品上墙(点一下回放打磨轨迹)→ 朋友的日记 → 成长相册</a:t>
            </a:r>
          </a:p>
          <a:p>
            <a:pPr lvl="1">
              <a:spcAft>
                <a:spcPts val="300"/>
              </a:spcAft>
            </a:pPr>
            <a:r>
              <a:rPr sz="1450" b="1">
                <a:solidFill>
                  <a:srgbClr val="5B3FFF"/>
                </a:solidFill>
              </a:rPr>
              <a:t>– 时间快到朋友犯困 → 孩子帮它盖被子说晚安 → 再开 = 朋友睡着了(永无弹窗与报错)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5B3FFF"/>
                </a:solidFill>
              </a:rPr>
              <a:t>• 管得住:每日额度服务端强制(15/20 分钟按年龄,顶 30)/ 宵禁 21:00 / 一人一活跃会话(DB 强制)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B2350"/>
                </a:solidFill>
              </a:rPr>
              <a:t>• 课后 AI 对话被五道闸挡死(真实供应商/真实审核/行为守护合约/压测/隐私升版)——v0 只读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2179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B2350"/>
                </a:solidFill>
              </a:rPr>
              <a:t>乐园拉力设计:孩子为什么想来(伦理立场)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5B3FFF"/>
                </a:solidFill>
              </a:rPr>
              <a:t>• 设计对象:不是「打开率」——是 APP 关着的时候,孩子心里惦记什么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B2350"/>
                </a:solidFill>
              </a:rPr>
              <a:t>• 粘性的三个合法来源:关系(它在等我)/ 创作(我的画没画完)/ 叙事(故事集的下一页)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5B3FFF"/>
                </a:solidFill>
              </a:rPr>
              <a:t>• 伦理立场:明确放弃变比率强化(抽卡/老虎机)、FOMO 限时、人为稀缺——伙伴不是老虎机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B2350"/>
                </a:solidFill>
              </a:rPr>
              <a:t>• 每个机制必过五条测试:关门 / 日历(存在确定,内容惊喜)/ 缺席(回来零愧疚)/ 创作 / 翻译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5B3FFF"/>
                </a:solidFill>
              </a:rPr>
              <a:t>• v1 四件套(全骑已有件):到访问候+日记 / 盖被子+晨醒 / 画架上的未完成 / 新本领揭幕</a:t>
            </a:r>
          </a:p>
          <a:p>
            <a:pPr lvl="1">
              <a:spcAft>
                <a:spcPts val="300"/>
              </a:spcAft>
            </a:pPr>
            <a:r>
              <a:rPr sz="1450" b="1">
                <a:solidFill>
                  <a:srgbClr val="5B3FFF"/>
                </a:solidFill>
              </a:rPr>
              <a:t>– 一句话拉力故事:它认得我、它记得昨晚、我的画在等我、我每节课都带新本领回家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B2350"/>
                </a:solidFill>
              </a:rPr>
              <a:t>• 明确拒绝:每日任务/签到连胜/体力系统/积分徽章排行/展示缺口的图鉴/推送红点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2179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B2350"/>
                </a:solidFill>
              </a:rPr>
              <a:t>SLO 总表(serving 规划)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2B2350"/>
                </a:solidFill>
              </a:rPr>
              <a:t>• 对话:LLM ≤8 秒 / 语音合成 ≤2 秒 / 语音识别 ≤8 秒——超时 = 瞬时预置兜底 + 计数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B2350"/>
                </a:solidFill>
              </a:rPr>
              <a:t>• 图像:≤15 秒端到端(提交+轮询+审核共享一个时限;排队不吃预算)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B2350"/>
                </a:solidFill>
              </a:rPr>
              <a:t>• 课堂同步:≤500 毫秒(解锁 → 全班学生端渲染)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B2350"/>
                </a:solidFill>
              </a:rPr>
              <a:t>• 首响优化:真实 API 后,流式输出 + 分句合成 → 数秒压到约 1 秒(已立项)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5B3FFF"/>
                </a:solidFill>
              </a:rPr>
              <a:t>• 并发:第一年周末峰值 300+ ≈ 10-15 间教室——按房间码黏性路由分片即可,不需重构</a:t>
            </a:r>
          </a:p>
          <a:p>
            <a:pPr lvl="1">
              <a:spcAft>
                <a:spcPts val="300"/>
              </a:spcAft>
            </a:pPr>
            <a:r>
              <a:rPr sz="1450" b="0">
                <a:solidFill>
                  <a:srgbClr val="2B2350"/>
                </a:solidFill>
              </a:rPr>
              <a:t>– 压测工具在第一个真实高峰之前交付(已立项)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B2350"/>
                </a:solidFill>
              </a:rPr>
              <a:t>• 令牌时效:分享 90 天 / 家长 180 天 / 乐园会话 ≤35 分钟(全部只存哈希 + 统一拒绝)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5B3FFF"/>
                </a:solidFill>
              </a:rPr>
              <a:t>• 可用性分级:课堂状态机/安全门/兜底库 = 失败不可接受;记忆/追踪/家长服务 = 挂了课堂无感但必留痕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2179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B2350"/>
                </a:solidFill>
              </a:rPr>
              <a:t>质量工程:怎么保证它是对的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5B3FFF"/>
                </a:solidFill>
              </a:rPr>
              <a:t>• 契约先行:16 份冻结契约——每个共享数据定义所有者/来源/失败模式/漂移检查</a:t>
            </a:r>
          </a:p>
          <a:p>
            <a:pPr lvl="1">
              <a:spcAft>
                <a:spcPts val="300"/>
              </a:spcAft>
            </a:pPr>
            <a:r>
              <a:rPr sz="1450" b="0">
                <a:solidFill>
                  <a:srgbClr val="2B2350"/>
                </a:solidFill>
              </a:rPr>
              <a:t>– 团队 = 创始人 + AI 智能体:文档就是团队的共享记忆,先冻结契约再写代码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5B3FFF"/>
                </a:solidFill>
              </a:rPr>
              <a:t>• 多智能体对抗评审:每个功能合并前,独立评审员互相攻击 + 质疑确认</a:t>
            </a:r>
          </a:p>
          <a:p>
            <a:pPr lvl="1">
              <a:spcAft>
                <a:spcPts val="300"/>
              </a:spcAft>
            </a:pPr>
            <a:r>
              <a:rPr sz="1450" b="0">
                <a:solidFill>
                  <a:srgbClr val="2B2350"/>
                </a:solidFill>
              </a:rPr>
              <a:t>– 累计抓出 4 个致命 + 28+ 个重要问题,全部修复后才放行</a:t>
            </a:r>
          </a:p>
          <a:p>
            <a:pPr lvl="1">
              <a:spcAft>
                <a:spcPts val="300"/>
              </a:spcAft>
            </a:pPr>
            <a:r>
              <a:rPr sz="1450" b="0">
                <a:solidFill>
                  <a:srgbClr val="2B2350"/>
                </a:solidFill>
              </a:rPr>
              <a:t>– 鲜活案例:评审用探针证明「一个配置失误能让模型冒写孩子的日记」——合并前封死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B2350"/>
                </a:solidFill>
              </a:rPr>
              <a:t>• 453 项自动化测试(全绿)/ 真实 PostgreSQL 16 迁移双跑冒烟 / 禁用词扫描进 CI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B2350"/>
                </a:solidFill>
              </a:rPr>
              <a:t>• 封闭监控词表:每次降级有专名计数,代码发出的事件集 ⊆ 契约声明集由 CI 强制</a:t>
            </a:r>
          </a:p>
          <a:p>
            <a:pPr lvl="1">
              <a:spcAft>
                <a:spcPts val="300"/>
              </a:spcAft>
            </a:pPr>
            <a:r>
              <a:rPr sz="1450" b="1">
                <a:solidFill>
                  <a:srgbClr val="5B3FFF"/>
                </a:solidFill>
              </a:rPr>
              <a:t>– 「兜底率在涨」是仪表盘上的事故信号,不是安静的成功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2179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B2350"/>
                </a:solidFill>
              </a:rPr>
              <a:t>当前瓶颈与下一步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5B3FFF"/>
                </a:solidFill>
              </a:rPr>
              <a:t>• 瓶颈一:品牌设计文档 + 4 次体验课大纲(本周六后)——正式前端设计与课程内容填充的前提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5B3FFF"/>
                </a:solidFill>
              </a:rPr>
              <a:t>• 瓶颈二:服务号 / 腾讯云账号资源——真实场景测试(真实模型/审核/触达)的前提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B2350"/>
                </a:solidFill>
              </a:rPr>
              <a:t>• 瓶颈三:微信小程序资质(申请周期数周)——周度家长触达的最佳通道,建议尽早启动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5B3FFF"/>
                </a:solidFill>
              </a:rPr>
              <a:t>• 等待期策略:把所有不依赖外部的地基打完</a:t>
            </a:r>
          </a:p>
          <a:p>
            <a:pPr lvl="1">
              <a:spcAft>
                <a:spcPts val="300"/>
              </a:spcAft>
            </a:pPr>
            <a:r>
              <a:rPr sz="1450" b="0">
                <a:solidFill>
                  <a:srgbClr val="2B2350"/>
                </a:solidFill>
              </a:rPr>
              <a:t>– 供应商接缝/记忆系统/形象实体/安全沙箱/家长面/乐园骨架 —— 均已就位</a:t>
            </a:r>
          </a:p>
          <a:p>
            <a:pPr lvl="1">
              <a:spcAft>
                <a:spcPts val="300"/>
              </a:spcAft>
            </a:pPr>
            <a:r>
              <a:rPr sz="1450" b="1">
                <a:solidFill>
                  <a:srgbClr val="5B3FFF"/>
                </a:solidFill>
              </a:rPr>
              <a:t>– 外部资源到位之日,接入是「换装」而非「开工」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B2350"/>
                </a:solidFill>
              </a:rPr>
              <a:t>• 恢复开发首件事:家长面板(额度设置)→ 反应系统 → 共创心愿种子 → 选项集轮换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7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孩子已经住在里面了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FD166"/>
                </a:solidFill>
              </a:defRPr>
            </a:pPr>
            <a:r>
              <a:t>上一节完整的课 · 得到一个记得他的朋友</a:t>
            </a:r>
          </a:p>
          <a:p>
            <a:pPr>
              <a:defRPr sz="1800">
                <a:solidFill>
                  <a:srgbClr val="FFD166"/>
                </a:solidFill>
              </a:defRPr>
            </a:pPr>
            <a:r>
              <a:t>课后去朋友家:看作品上墙、读它写的日记、帮它盖被子说晚安</a:t>
            </a:r>
          </a:p>
          <a:p>
            <a:pPr>
              <a:defRPr sz="1800">
                <a:solidFill>
                  <a:srgbClr val="FFD166"/>
                </a:solidFill>
              </a:defRPr>
            </a:pPr>
            <a:r>
              <a:t>真实 AI 接通那天,这个家会「活过来」——而孩子,早已经住在里面了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